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5610"/>
                </a:solidFill>
                <a:latin typeface="Calibri"/>
              </a:rPr>
              <a:t>MFC · EXASCALE MULTIPHYSICS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A1A1F"/>
                </a:solidFill>
                <a:latin typeface="Calibri"/>
              </a:rPr>
              <a:t>Reacting Flows &amp; Combustion, on GPUs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692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2525B"/>
                </a:solidFill>
                <a:latin typeface="Calibri"/>
              </a:rPr>
              <a:t>Finite-rate H₂/O₂ chemistry, gas &amp; condensed-phase detonations, and solid-fuel combustion — computed with the Multi-component Flow Code on NVIDIA A100s, from one source that runs on four CI-gated compilers.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2D cellular detonation in Ar-diluted H₂/O₂</a:t>
            </a:r>
          </a:p>
        </p:txBody>
      </p:sp>
      <p:pic>
        <p:nvPicPr>
          <p:cNvPr id="5" name="de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63040"/>
            <a:ext cx="7315200" cy="3039872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piston-driven shock ignites 2H₂+O₂+7Ar and locks into a self-sustained Chapman–Jouguet detonation (~1600 m/s). Heavy argon dilution regularizes the transverse-wave pattern, so the classic cellular soot-foil structure is resolved directly on the mesh.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3D detonation — cellular soot foil</a:t>
            </a:r>
          </a:p>
        </p:txBody>
      </p:sp>
      <p:pic>
        <p:nvPicPr>
          <p:cNvPr id="5" name="sootfoi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63040"/>
            <a:ext cx="7315200" cy="2072640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The same case run in 3D on the four GPUs (millions of cells). Recording the peak pressure reached at every point traces the soot foil — the diamond fish-scale imprint of the detonation's transverse waves, forming here as the front sweeps down the channel. This diamond-cell pattern is the classic fingerprint of a detonation's cellular 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Detonation diffracting around an obstacle</a:t>
            </a:r>
          </a:p>
        </p:txBody>
      </p:sp>
      <p:pic>
        <p:nvPicPr>
          <p:cNvPr id="5" name="el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63040"/>
            <a:ext cx="7315200" cy="4590553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The detonation runs into a rotated-ellipse immersed boundary and wraps around it, staying vigorous (~3400 K). This surfaced a solver finding: CFL-adaptive time-stepping drives the timestep to NaN and silently hangs at the super-heated impact, while a fixed timestep sails through the diffraction.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Condensed-phase detonation — a solid explosive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32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96E08"/>
                </a:solidFill>
                <a:latin typeface="Calibri"/>
              </a:rPr>
              <a:t>● NEW CAPABILITY</a:t>
            </a:r>
          </a:p>
        </p:txBody>
      </p:sp>
      <p:pic>
        <p:nvPicPr>
          <p:cNvPr id="6" name="r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63040"/>
            <a:ext cx="7315200" cy="3103968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programmed pressure burn converts reactant to product on the multi-fluid model (no ideal-gas chemistry): the two fluids share an EOS and differ only in reference energy, releasing heat through the mixture equation of state. A self-sustained ~7 km/s detonation forms — von Neumann spike, ZND reaction zone, Taylor rarefaction — bypassing the Cantera single-fluid lock.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Burning solid-fuel grain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32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96E08"/>
                </a:solidFill>
                <a:latin typeface="Calibri"/>
              </a:rPr>
              <a:t>● NEW CAPABILITY</a:t>
            </a:r>
          </a:p>
        </p:txBody>
      </p:sp>
      <p:pic>
        <p:nvPicPr>
          <p:cNvPr id="6" name="grai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42225" y="1463040"/>
            <a:ext cx="3036590" cy="4937760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solid cylinder injects H₂ off its surface into a hot O₂/Ar chamber; the fuel auto-ignites and anchors a surface diffusion flame (~2700 K). Enabled by two new immersed-boundary knobs — wall-normal blowing and injected-species — that let a solid surface transpire and inject fuel.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Internal ballistics — pressure-coupled burn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32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96E08"/>
                </a:solidFill>
                <a:latin typeface="Calibri"/>
              </a:rPr>
              <a:t>● NEW CAPABILITY</a:t>
            </a:r>
          </a:p>
        </p:txBody>
      </p:sp>
      <p:pic>
        <p:nvPicPr>
          <p:cNvPr id="6" name="i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7159" y="1463040"/>
            <a:ext cx="7066721" cy="4937760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Vieille's-law burn rate (v ∝ pⁿ) turns the closed chamber into a feedback loop: combustion raises the pressure, which raises the burn rate, which raises the pressure — the defining signature of solid-rocket internal ballistics, reproduced from first-principles CFD.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Hybrid-rocket fuel slab</a:t>
            </a:r>
          </a:p>
        </p:txBody>
      </p:sp>
      <p:pic>
        <p:nvPicPr>
          <p:cNvPr id="5" name="hy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63040"/>
            <a:ext cx="7315200" cy="4590553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wall strip injects H₂ into a hot O₂/Ar crossflow, forming a boundary-layer diffusion flame (~2660 K) that lifts off the wall and burns downstream — the essential hybrid-rocket picture of fuel blowing off a surface into an oxidizer stream, at high resolution.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Bluff-body flame holder</a:t>
            </a:r>
          </a:p>
        </p:txBody>
      </p:sp>
      <p:pic>
        <p:nvPicPr>
          <p:cNvPr id="5" name="f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44773" y="1463040"/>
            <a:ext cx="5631494" cy="4937760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fuel-injecting cylinder anchors a flame in its recirculating wake (~2630 K). The freestream carries no fuel, so combustion can only stabilize where the injected H₂ meets the oxidizer behind the body — the classic afterburner/ramjet flame-holder configuration.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85610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1D premixed propellant flame</a:t>
            </a:r>
          </a:p>
        </p:txBody>
      </p:sp>
      <p:pic>
        <p:nvPicPr>
          <p:cNvPr id="5" name="pro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695" y="1463040"/>
            <a:ext cx="6087649" cy="4937760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138160" y="1600200"/>
            <a:ext cx="3611880" cy="4572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A premixed H₂/O₂/Ar deflagration propagating at ~18.6 m/s with full multicomponent transport and finite-rate chemistry — the slow, diffusion-controlled counterpart to the shock-driven detonations.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280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A96E08"/>
                </a:solidFill>
                <a:latin typeface="Calibri"/>
              </a:rPr>
              <a:t>PERF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10896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A1A1F"/>
                </a:solidFill>
                <a:latin typeface="Calibri"/>
              </a:rPr>
              <a:t>GPU performance</a:t>
            </a:r>
          </a:p>
        </p:txBody>
      </p:sp>
      <p:pic>
        <p:nvPicPr>
          <p:cNvPr id="5" name="Picture 4" descr="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554480"/>
            <a:ext cx="6766560" cy="3890772"/>
          </a:xfrm>
          <a:prstGeom prst="rect">
            <a:avLst/>
          </a:prstGeom>
          <a:ln w="12700">
            <a:solidFill>
              <a:srgbClr val="CFD3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818120" y="173736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5610"/>
                </a:solidFill>
                <a:latin typeface="Calibri"/>
              </a:rPr>
              <a:t>177× speedup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514600"/>
            <a:ext cx="3931920" cy="3657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On a case-optimized 3D reacting run (H₂/O₂, 256k cells), a single A100 sustains 10.1 million cell-updates per second versus 57 thousand on one CPU core.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2525B"/>
                </a:solidFill>
                <a:latin typeface="Calibri"/>
              </a:rPr>
              <a:t>The same Fortran source runs on four CI-gated compilers (gfortran, nvfortran, Cray, Intel) and across CPU, OpenACC, and OpenMP-offload GPU back-ends.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